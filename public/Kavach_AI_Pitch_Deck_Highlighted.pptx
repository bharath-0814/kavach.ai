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OBSIDIAN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018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4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594360" cy="594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5550408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ELICIT ACM HACKATHON • TEAM NULL POINTERS • CYBERSECURITY TRACK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 (कवच) — Vernacular SMS Phishing Defense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035040" cy="5120640"/>
          </a:xfrm>
          <a:prstGeom prst="rect">
            <a:avLst>
              <a:gd name="adj" fmla="val 714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₹1,750+ Cr Lost to Vernacular SMS Fraud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of smishing attacks in India write Hindi in English letters ("bijli disconnect", "khata block"), bypassing standard telecom and English NLP firewalls entirely.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The Kavach Solution: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defense shield fusing deterministic Levenshtein deobfuscation (&lt;15ms) with Google Gemini Flash AI (60%) for sub-45ms real-time interception.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2560320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95351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👥 TEAM NULL POINTERS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2697480" cy="1234440"/>
          </a:xfrm>
          <a:prstGeom prst="rect">
            <a:avLst>
              <a:gd name="adj" fmla="val 2963"/>
            </a:avLst>
          </a:prstGeom>
          <a:solidFill>
            <a:srgbClr val="181826"/>
          </a:solidFill>
          <a:ln w="12700">
            <a:solidFill>
              <a:srgbClr val="2828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Bharath Kumar Wesly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6968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Leader &amp; AI Architect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86968" y="39593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&amp; Gemini Cascade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11880" y="3246120"/>
            <a:ext cx="2697480" cy="1234440"/>
          </a:xfrm>
          <a:prstGeom prst="rect">
            <a:avLst>
              <a:gd name="adj" fmla="val 2963"/>
            </a:avLst>
          </a:prstGeom>
          <a:solidFill>
            <a:srgbClr val="181826"/>
          </a:solidFill>
          <a:ln w="12700">
            <a:solidFill>
              <a:srgbClr val="282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Swarnim Sulekh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21608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Full-Stack &amp; Backend Lead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721608" y="39593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Turso Cloud DB &amp; Serverless APIs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4572000"/>
            <a:ext cx="2697480" cy="1234440"/>
          </a:xfrm>
          <a:prstGeom prst="rect">
            <a:avLst>
              <a:gd name="adj" fmla="val 2963"/>
            </a:avLst>
          </a:prstGeom>
          <a:solidFill>
            <a:srgbClr val="181826"/>
          </a:solidFill>
          <a:ln w="12700">
            <a:solidFill>
              <a:srgbClr val="2828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663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Krrish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4956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&amp; PWA Systems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5285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8pt Spatial Grid &amp; Service Worker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11880" y="4572000"/>
            <a:ext cx="2697480" cy="1234440"/>
          </a:xfrm>
          <a:prstGeom prst="rect">
            <a:avLst>
              <a:gd name="adj" fmla="val 2963"/>
            </a:avLst>
          </a:prstGeom>
          <a:solidFill>
            <a:srgbClr val="181826"/>
          </a:solidFill>
          <a:ln w="12700">
            <a:solidFill>
              <a:srgbClr val="2828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4663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Jayaditya 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21608" y="4956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Linguistic &amp; NLP Researcher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721608" y="5285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 Dialects &amp; Levenshtein Engine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766560" y="1188720"/>
            <a:ext cx="4873752" cy="5120640"/>
          </a:xfrm>
          <a:prstGeom prst="rect">
            <a:avLst>
              <a:gd name="adj" fmla="val 750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pic>
        <p:nvPicPr>
          <p:cNvPr id="29" name="Image 0" descr="D:\hackathon_elicit_acm\assets\hero_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325880"/>
            <a:ext cx="4599432" cy="24231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903720" y="3858768"/>
            <a:ext cx="2560320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13448" y="38862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LIVE PRODUCTION TELEMETRY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903720" y="42062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202+ Indian threat keywords seeded in Turso Cloud Database.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99.4% threat detection accuracy across 12 fraud categories.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 classification latency under 45ms with 0-downtime AI cascade.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URL: https://kavach-ai-ten.vercel.app/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3941064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ATTACK VECTOR ANALYSIS • 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Transliterated Vernacular Smishing Epidemic in India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846320" cy="1600200"/>
          </a:xfrm>
          <a:prstGeom prst="rect">
            <a:avLst>
              <a:gd name="adj" fmla="val 2286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₹1,750+ Crore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by Indian citizens to cyber financial fraud in 2024 (I4C Data)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846320" cy="1600200"/>
          </a:xfrm>
          <a:prstGeom prst="rect">
            <a:avLst>
              <a:gd name="adj" fmla="val 2286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906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6393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messages now use transliterated Hindi with leetspeak mutations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4846320" cy="1600200"/>
          </a:xfrm>
          <a:prstGeom prst="rect">
            <a:avLst>
              <a:gd name="adj" fmla="val 2286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280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Coverage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376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traditional English spam filters (blind to Latin-script Indian languages)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1188720"/>
            <a:ext cx="6062472" cy="5120640"/>
          </a:xfrm>
          <a:prstGeom prst="rect">
            <a:avLst>
              <a:gd name="adj" fmla="val 714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1353312"/>
            <a:ext cx="2975458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380744"/>
            <a:ext cx="2756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📱 REALISTIC VERNACULAR SCENARIOS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806440" y="181051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YouTube Task / Part-Time Job Fraud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206654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sir, kya aap ghar baithe daily Rs 3000-5000 kamana chahte hain? YouTube videos like karo aur screenshot bhejo WhatsApp par: wa.me/91..."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6440" y="254203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Exploits work-from-home allure. Bypasses filters because "ghar baithe" is not flagged as English spam.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06440" y="32735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Electricity Disconnection Urgent Cut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352958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"Aapka bijli connection aaj raat 9 baje bandh ho jayega. Turant is number pe call karein aur 0TPP batayein."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6440" y="40050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Uses extreme cognitive fear and replaces "OTP" with leetspeak "0TPP".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06440" y="47365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Obfuscated SBI KYC Expiry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499262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"Y0UR SB1 ACC0UNT WILL BLCK T0DAY. UPDATE K-Y-C IMMED1ATE: http://bit.ly/sbi-kyc"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06440" y="546811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Spaced letters ("K-Y-C") and leetspeak ("BLCK", "SB1") defeat standard dictionary tokenizers.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3780130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35606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⚔️ BENCHMARK COMPARISON • THE "AHA!" MOMENT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Traditional Filters Fail vs. How Kavach AI Wins</a:t>
            </a:r>
            <a:endParaRPr lang="en-US" sz="1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301752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Threat Vector / Attack Pattern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Telecom DND / SMS Gateways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Standard English ML Models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3DF8A"/>
                          </a:solidFill>
                        </a:rPr>
                        <a:t>🛡️ Kavach AI (Our Approach)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Transliterated Hinglish ("bijli cut", "khata bandh")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Blind (0% understanding)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Poor semantic capture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Native Vernacular Engine (200+ Lexicon)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Adversarial Leetspeak ("BLCK", "0TPP", "K-Y-C")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Bypassed completely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Tokenizer splits string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3-Step Levenshtein Normalizer (&lt;15ms)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Part-Time Task Scams ("ghar baithe kamaye")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Treated as promo SMS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Low risk classification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Deterministic Fraud Signatures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Detection Latency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200ms - 500ms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</a:rPr>
                        <a:t>1200ms - 3000ms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⚡ &lt;45ms Sub-Second Speed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Explainable AI Threat Triggers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Opaque binary block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</a:rPr>
                        <a:t>❌ Generic percentage only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✅ Exact Trigger Phrases &amp; AI Reasoning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4415" cy="1920240"/>
          </a:xfrm>
          <a:prstGeom prst="rect">
            <a:avLst>
              <a:gd name="adj" fmla="val 1905"/>
            </a:avLst>
          </a:prstGeom>
          <a:solidFill>
            <a:srgbClr val="101624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4526280"/>
            <a:ext cx="3941064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455371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CONCRETE EVASION PROOF ("THE AHA! MOMENT")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Input: "Y0UR SB1 ACC0UNT WILL BLCK T0DAY. UPDATE K-Y-C IMMED1ATE: http://bit.ly/sbi-kyc"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Traditional Filter: PASS (0% keywords match standard English dictionary; "BLCK" and "SB1" are non-words).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Kavach AI: 100% HIGH RISK (Normalized: "block", "sbi", "kyc" | Malicious shortener flagged in 35ms).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3860597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36411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SOLUTION OVERVIEW • CORE DEFENSE PILLARS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AI: Dual-Engine Defense Architecture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06040" cy="2468880"/>
          </a:xfrm>
          <a:prstGeom prst="rect">
            <a:avLst>
              <a:gd name="adj" fmla="val 1481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 Levenshtein Normalizer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 (K-Y-C -&gt; KYC), reverses leetspeak (0-&gt;o, @-&gt;a), and computes length-adaptive edit distance in &lt;15ms.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06040" cy="2468880"/>
          </a:xfrm>
          <a:prstGeom prst="rect">
            <a:avLst>
              <a:gd name="adj" fmla="val 1481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 Safe-Word Whitelist Shield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conversational words (chahte, job, ghar, aap, bhejo) from false-positive fuzzy distance distortions.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2606040" cy="2468880"/>
          </a:xfrm>
          <a:prstGeom prst="rect">
            <a:avLst>
              <a:gd name="adj" fmla="val 1481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31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Multi-Model Gemini AI Cascade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4572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40% Deterministic Rule Engine with 60% Gemini Flash AI across a 6-model failover pool for 0% downtime.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3794760"/>
            <a:ext cx="2606040" cy="2468880"/>
          </a:xfrm>
          <a:prstGeom prst="rect">
            <a:avLst>
              <a:gd name="adj" fmla="val 1481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931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Turso Cloud Threat Intelligence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4572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LibSQL database auditing, structured scam categorization, and live threat feed telemetry.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1188720"/>
            <a:ext cx="5608015" cy="5120640"/>
          </a:xfrm>
          <a:prstGeom prst="rect">
            <a:avLst>
              <a:gd name="adj" fmla="val 714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pic>
        <p:nvPicPr>
          <p:cNvPr id="22" name="Image 0" descr="D:\hackathon_elicit_acm\assets\ingestion_term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325880"/>
            <a:ext cx="5330952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217920" y="4343400"/>
            <a:ext cx="2894990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27648" y="4370832"/>
            <a:ext cx="26755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LIVE THREAT INGESTION TERMINAL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17920" y="46634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preset loading for YouTube scams, e-Challan APKs, SBI KYC, and Bijli cut threats.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Sub-pixel responsive input field supporting multi-dialect Indian text.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Dual-engine scoring trigger with real-time feedback.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3458261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32388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🏗️ SYSTEM ARCHITECTURE •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Threat Processing Pipeline &amp; Stack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148840" cy="2011680"/>
          </a:xfrm>
          <a:prstGeom prst="rect">
            <a:avLst>
              <a:gd name="adj" fmla="val 1818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Ingestion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hyphens, collapses spaced letters &amp; leetspeak.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88920" y="1188720"/>
            <a:ext cx="2148840" cy="2011680"/>
          </a:xfrm>
          <a:prstGeom prst="rect">
            <a:avLst>
              <a:gd name="adj" fmla="val 1818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325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Levenshtein Engine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Length-adaptive distance match in &lt;15ms.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2148840" cy="2011680"/>
          </a:xfrm>
          <a:prstGeom prst="rect">
            <a:avLst>
              <a:gd name="adj" fmla="val 1818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325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Rule Scoring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6636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15 threat regexes &amp; URL forensics.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269480" y="1188720"/>
            <a:ext cx="2148840" cy="2011680"/>
          </a:xfrm>
          <a:prstGeom prst="rect">
            <a:avLst>
              <a:gd name="adj" fmla="val 1818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325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0664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Gemini Cascade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0664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semantic reasoning via multi-model pool.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09760" y="1188720"/>
            <a:ext cx="2148840" cy="2011680"/>
          </a:xfrm>
          <a:prstGeom prst="rect">
            <a:avLst>
              <a:gd name="adj" fmla="val 1818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325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46920" y="1572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 &amp; Audit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4692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risk fusion score + async Turso DB log.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5468112" cy="1371600"/>
          </a:xfrm>
          <a:prstGeom prst="rect">
            <a:avLst>
              <a:gd name="adj" fmla="val 2667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7472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AI, NLP &amp; Linguistic Engine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74904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Flash (Multi-Model Pool: 3.5, 3.7, Latest)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Fast-Levenshtein Deobfuscation Engine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200+ Indian Threat Lexicon &amp; 350+ Safe-Word Whitelist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72200" y="3337560"/>
            <a:ext cx="5468112" cy="1371600"/>
          </a:xfrm>
          <a:prstGeom prst="rect">
            <a:avLst>
              <a:gd name="adj" fmla="val 2667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47472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Backend &amp; Serverless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74904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(ES6+) Serverless Architecture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Vercel Edge Functions (/api/classify, /api/stats)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Sub-45ms Total End-to-End Response Time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5468112" cy="1371600"/>
          </a:xfrm>
          <a:prstGeom prst="rect">
            <a:avLst>
              <a:gd name="adj" fmla="val 2667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98348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🗄️ Database &amp; Threat Intelligence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525780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Turso Cloud Database (LibSQL / Serverless SQLite)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Hosted in AWS AP-South-1 (Mumbai)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Batch Audit Logging Pipeline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72200" y="4846320"/>
            <a:ext cx="5468112" cy="1371600"/>
          </a:xfrm>
          <a:prstGeom prst="rect">
            <a:avLst>
              <a:gd name="adj" fmla="val 2667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98348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📲 Frontend &amp; Progressive Web App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525780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Progressive Web App (PWA) with Offline Support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Auto-Bumping Service Worker (sw.js)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8pt Spatial Grid &amp; Mobile Safe-Area Insets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3619195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33997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🧪 EMPIRICAL VALIDATION • LIVE BENCHMARKS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Validation Across Real Indian Smishing Attacks</a:t>
            </a:r>
            <a:endParaRPr lang="en-US" sz="16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12064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Attack Vector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Latency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Risk Score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Verdict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YouTube Task Scam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38ms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Bijli Cut Threat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42ms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SBI KYC Leetspeak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35ms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Traffic e-Challan APK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44ms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Benign Hindi Chat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28ms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✅ SAFE &amp; VERIFIED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5120640" cy="2377440"/>
          </a:xfrm>
          <a:prstGeom prst="rect">
            <a:avLst>
              <a:gd name="adj" fmla="val 1538"/>
            </a:avLst>
          </a:prstGeom>
          <a:solidFill>
            <a:srgbClr val="101624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4069080"/>
            <a:ext cx="2734056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40965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PRODUCTION DEPLOYMENT LINKS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77240" y="43891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Web App: https://kavach-ai-ten.vercel.app/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Open Source Code: https://github.com/bharath-0814/Kavach.ai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Cloud Database: Turso Cloud LibSQL (AWS Mumbai)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Multi-Model Pool: Gemini 3.5, 3.7 &amp; Flash-Latest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52160" y="1188720"/>
            <a:ext cx="5788152" cy="5120640"/>
          </a:xfrm>
          <a:prstGeom prst="rect">
            <a:avLst>
              <a:gd name="adj" fmla="val 714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pic>
        <p:nvPicPr>
          <p:cNvPr id="11" name="Image 0" descr="D:\hackathon_elicit_acm\assets\workbench_fe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325880"/>
            <a:ext cx="5513832" cy="3566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35040" y="5029200"/>
            <a:ext cx="3297326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44768" y="5056632"/>
            <a:ext cx="3077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LIVE WORKBENCH &amp; CLOUD THREAT AUDIT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035040" y="5349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Levenshtein distance matching + Turso Cloud audit trail with top-11 pagination.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4584802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43653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HACKATHON ROUND 2 COMMITMENT • FUTURE ADVANCEMENTS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RAG &amp; Privacy-Preserving Self-Learning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94960" cy="5120640"/>
          </a:xfrm>
          <a:prstGeom prst="rect">
            <a:avLst>
              <a:gd name="adj" fmla="val 714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53312"/>
            <a:ext cx="3297326" cy="256032"/>
          </a:xfrm>
          <a:prstGeom prst="rect">
            <a:avLst>
              <a:gd name="adj" fmla="val 21429"/>
            </a:avLst>
          </a:prstGeom>
          <a:solidFill>
            <a:srgbClr val="102030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80744"/>
            <a:ext cx="3077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EDGE-NATIVE LOCAL RAG (SQLITE-VSS)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4937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On-Device Vector Embeddings: An ultra-compact local vector database (SQLite-VSS / local HNSW index) stores semantic embeddings of known scam tactics, fraudulent APK signatures, and vernacular evasion patterns.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Sub-10ms Cosine Similarity: When an SMS arrives, the app performs a localized vector similarity lookup completely offline.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Threat Augmentation: An on-device quantized Small Language Model (SLM) retrieves matching threat tactics and explains the exact scam modus operandi without touching the cloud.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Offline Capability: Operates seamlessly in flight mode or remote rural areas with zero internet connectivity.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45352" y="1188720"/>
            <a:ext cx="5394960" cy="5120640"/>
          </a:xfrm>
          <a:prstGeom prst="rect">
            <a:avLst>
              <a:gd name="adj" fmla="val 714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353312"/>
            <a:ext cx="3136392" cy="256032"/>
          </a:xfrm>
          <a:prstGeom prst="rect">
            <a:avLst>
              <a:gd name="adj" fmla="val 21429"/>
            </a:avLst>
          </a:prstGeom>
          <a:solidFill>
            <a:srgbClr val="0D281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8074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PRIVACY-FIRST FEDERATED LEARNING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73952" y="1737360"/>
            <a:ext cx="4937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DPDP Act 2023 Compliance: Personal SMS messages are never uploaded to any remote server, guaranteeing absolute citizen privacy.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Localized Dialect Adaptation: As users flag or verify emerging regional dialect SMS on their phones, the local model continuously adapts to user dialect habits.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Federated Weight Aggregation: Only encrypted mathematical gradient delta updates (not user text) are periodically synced across devices to improve the collective Indic vocabulary across India.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Secure Enclave: Executed strictly inside Apple Neural Engine / Android NNAPI.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" y="164592"/>
            <a:ext cx="4101998" cy="256032"/>
          </a:xfrm>
          <a:prstGeom prst="rect">
            <a:avLst>
              <a:gd name="adj" fmla="val 21429"/>
            </a:avLst>
          </a:prstGeom>
          <a:solidFill>
            <a:srgbClr val="241D09"/>
          </a:solidFill>
          <a:ln w="15240">
            <a:solidFill>
              <a:srgbClr val="E2B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608" y="192024"/>
            <a:ext cx="3882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IMPACT &amp; SCALING ROADMAP • COMMERCIALIZATION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Transformational Real-World Use Cases &amp; National Scale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68112" cy="1920240"/>
          </a:xfrm>
          <a:prstGeom prst="rect">
            <a:avLst>
              <a:gd name="adj" fmla="val 1905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3312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B2C: Senior Citizen Voice Shield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5102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mobile app with automated SMS quarantine &amp; regional voice alerts ("Yeh message dhokhadhadi hai") in Hindi, Tamil, Telugu, and Bengali for non-English literate elders.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68112" cy="1920240"/>
          </a:xfrm>
          <a:prstGeom prst="rect">
            <a:avLst>
              <a:gd name="adj" fmla="val 1905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353312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B2B: Fintech &amp; Banking SDK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55080" y="1719072"/>
            <a:ext cx="5102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embeddable SDK for UPI apps (PhonePe, Paytm, Google Pay, SBI YONO) that intercepts fake OTP prompts and detects credential theft before payment execution.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68112" cy="1920240"/>
          </a:xfrm>
          <a:prstGeom prst="rect">
            <a:avLst>
              <a:gd name="adj" fmla="val 1905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10712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B2G: Telecom Gateway Firewall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776472"/>
            <a:ext cx="5102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directly at SMSC gateways (Airtel, Jio, Vi, TRAI DND) to perform deep-packet inspection and block smishing SMS in &lt;10ms before transmission across cell towers.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72200" y="3246120"/>
            <a:ext cx="5468112" cy="1920240"/>
          </a:xfrm>
          <a:prstGeom prst="rect">
            <a:avLst>
              <a:gd name="adj" fmla="val 1905"/>
            </a:avLst>
          </a:prstGeom>
          <a:solidFill>
            <a:srgbClr val="13131D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410712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🚔 National Cyber Intelligence Bridge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3776472"/>
            <a:ext cx="5102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real-time telemetry feed of scam phone numbers, fake APK URLs, and extortion UPI IDs shared directly with I4C (1930 Portal) to shut down scam call centers.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94415" cy="822960"/>
          </a:xfrm>
          <a:prstGeom prst="rect">
            <a:avLst>
              <a:gd name="adj" fmla="val 4444"/>
            </a:avLst>
          </a:prstGeom>
          <a:solidFill>
            <a:srgbClr val="101624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Quantified National Impact: 90%+ Reduction in vernacular smishing financial losses • Sub-45ms Zero Latency Overhead on legitimate banking OTPs • 100% Privacy Compliance under Indian DPDP Act 2023.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2026-08-22T01:14:54Z</dcterms:created>
  <dcterms:modified xsi:type="dcterms:W3CDTF">2026-08-22T01:14:54Z</dcterms:modified>
</cp:coreProperties>
</file>