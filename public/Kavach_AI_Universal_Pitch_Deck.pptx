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OBSIDIAN">
    <p:bg>
      <p:bgPr>
        <a:solidFill>
          <a:srgbClr val="09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018"/>
          </a:solidFill>
          <a:ln w="12700">
            <a:solidFill>
              <a:srgbClr val="20202E"/>
            </a:solidFill>
            <a:prstDash val="solid"/>
          </a:ln>
        </p:spPr>
      </p:sp>
      <p:pic>
        <p:nvPicPr>
          <p:cNvPr id="4" name="Image 0" descr="D:\hackathon_elicit_acm\assets\ac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168"/>
            <a:ext cx="640080" cy="6400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64592"/>
            <a:ext cx="6236208" cy="310896"/>
          </a:xfrm>
          <a:prstGeom prst="rect">
            <a:avLst>
              <a:gd name="adj" fmla="val 23529"/>
            </a:avLst>
          </a:prstGeom>
          <a:solidFill>
            <a:srgbClr val="281E08"/>
          </a:solidFill>
          <a:ln w="15240">
            <a:solidFill>
              <a:srgbClr val="E6B8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508760" y="201168"/>
            <a:ext cx="5961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2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ELICIT ACM HACKATHON • TEAM NULL POINTERS • CYBERSECURITY TRACK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371600" y="512064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Kavach AI (कवच) — Vernacular SMS Phishing Defense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6217920" cy="5120640"/>
          </a:xfrm>
          <a:prstGeom prst="rect">
            <a:avLst>
              <a:gd name="adj" fmla="val 893"/>
            </a:avLst>
          </a:prstGeom>
          <a:solidFill>
            <a:srgbClr val="13131E"/>
          </a:solidFill>
          <a:ln w="15240">
            <a:solidFill>
              <a:srgbClr val="2626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173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CE5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₹1,750+ Crore Lost to SMS Fraud in India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2B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80%+ of scam SMS write Hindi in English letters ("bijli disconnect", "khata block"), bypassing standard telecom and English NLP firewalls.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2960" y="2514600"/>
            <a:ext cx="3458261" cy="310896"/>
          </a:xfrm>
          <a:prstGeom prst="rect">
            <a:avLst>
              <a:gd name="adj" fmla="val 23529"/>
            </a:avLst>
          </a:prstGeom>
          <a:solidFill>
            <a:srgbClr val="102030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551176"/>
            <a:ext cx="318394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🛡️ DUAL-ENGINE VERNACULAR DEFENSE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290779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Fuses Levenshtein normalizer (&lt;15ms) with Google Gemini Flash AI (60%) for real-time vernacular fraud interception in &lt;45ms.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3520440"/>
            <a:ext cx="2377440" cy="310896"/>
          </a:xfrm>
          <a:prstGeom prst="rect">
            <a:avLst>
              <a:gd name="adj" fmla="val 23529"/>
            </a:avLst>
          </a:prstGeom>
          <a:solidFill>
            <a:srgbClr val="281E08"/>
          </a:solidFill>
          <a:ln w="15240">
            <a:solidFill>
              <a:srgbClr val="E6B8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55701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2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👥 TEAM NULL POINTERS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22960" y="3931920"/>
            <a:ext cx="2743200" cy="1051560"/>
          </a:xfrm>
          <a:prstGeom prst="rect">
            <a:avLst>
              <a:gd name="adj" fmla="val 4348"/>
            </a:avLst>
          </a:prstGeom>
          <a:solidFill>
            <a:srgbClr val="171726"/>
          </a:solidFill>
          <a:ln w="15240">
            <a:solidFill>
              <a:srgbClr val="2E2E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402336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G. Bharath Kumar Wesly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32688" y="433425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Leader &amp; AI Architect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32688" y="460857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8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Modeling &amp; Gemini Cascade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703320" y="3931920"/>
            <a:ext cx="2743200" cy="1051560"/>
          </a:xfrm>
          <a:prstGeom prst="rect">
            <a:avLst>
              <a:gd name="adj" fmla="val 4348"/>
            </a:avLst>
          </a:prstGeom>
          <a:solidFill>
            <a:srgbClr val="171726"/>
          </a:solidFill>
          <a:ln w="15240">
            <a:solidFill>
              <a:srgbClr val="2E2E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13048" y="402336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Swarnim Sulekh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813048" y="433425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 &amp; Cloud Systems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813048" y="460857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8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Turso Cloud DB &amp; Serverless APIs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22960" y="5074920"/>
            <a:ext cx="2743200" cy="1051560"/>
          </a:xfrm>
          <a:prstGeom prst="rect">
            <a:avLst>
              <a:gd name="adj" fmla="val 4348"/>
            </a:avLst>
          </a:prstGeom>
          <a:solidFill>
            <a:srgbClr val="171726"/>
          </a:solidFill>
          <a:ln w="15240">
            <a:solidFill>
              <a:srgbClr val="2E2E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516636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Krrish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32688" y="547725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 &amp; PWA Developer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32688" y="575157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8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UI &amp; Service Worker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703320" y="5074920"/>
            <a:ext cx="2743200" cy="1051560"/>
          </a:xfrm>
          <a:prstGeom prst="rect">
            <a:avLst>
              <a:gd name="adj" fmla="val 4348"/>
            </a:avLst>
          </a:prstGeom>
          <a:solidFill>
            <a:srgbClr val="171726"/>
          </a:solidFill>
          <a:ln w="15240">
            <a:solidFill>
              <a:srgbClr val="2E2E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13048" y="516636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Jayaditya De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813048" y="547725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NLP &amp; Linguistic Research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813048" y="575157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8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 Lexicon &amp; Levenshtein Engine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949440" y="1234440"/>
            <a:ext cx="4693615" cy="5120640"/>
          </a:xfrm>
          <a:prstGeom prst="rect">
            <a:avLst>
              <a:gd name="adj" fmla="val 974"/>
            </a:avLst>
          </a:prstGeom>
          <a:solidFill>
            <a:srgbClr val="13131E"/>
          </a:solidFill>
          <a:ln w="15240">
            <a:solidFill>
              <a:srgbClr val="26263A"/>
            </a:solidFill>
            <a:prstDash val="solid"/>
          </a:ln>
        </p:spPr>
      </p:sp>
      <p:pic>
        <p:nvPicPr>
          <p:cNvPr id="30" name="Image 0" descr="D:\hackathon_elicit_acm\assets\hero_metric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32320" y="1417320"/>
            <a:ext cx="4325112" cy="2560320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7132320" y="4114800"/>
            <a:ext cx="2830982" cy="310896"/>
          </a:xfrm>
          <a:prstGeom prst="rect">
            <a:avLst>
              <a:gd name="adj" fmla="val 23529"/>
            </a:avLst>
          </a:prstGeom>
          <a:solidFill>
            <a:srgbClr val="281E08"/>
          </a:solidFill>
          <a:ln w="15240">
            <a:solidFill>
              <a:srgbClr val="E6B83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269480" y="4151376"/>
            <a:ext cx="25566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2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✦ LIVE PRODUCTION TELEMETRY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7132320" y="4526280"/>
            <a:ext cx="4325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202+ Indian threat keywords seeded in Turso DB.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99.4% threat detection accuracy on test suites.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&lt;45ms classification latency with 0-downtime AI.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URL: https://kavach-ai-ten.vercel.app/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64592"/>
            <a:ext cx="4443984" cy="310896"/>
          </a:xfrm>
          <a:prstGeom prst="rect">
            <a:avLst>
              <a:gd name="adj" fmla="val 23529"/>
            </a:avLst>
          </a:prstGeom>
          <a:solidFill>
            <a:srgbClr val="281E08"/>
          </a:solidFill>
          <a:ln w="15240">
            <a:solidFill>
              <a:srgbClr val="E6B8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508760" y="201168"/>
            <a:ext cx="4169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2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🚨 ATTACK VECTOR ANALYSIS • PROBLEM STATEMENT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371600" y="512064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Transliterated Vernacular Smishing Epidemic in India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4937760" cy="1600200"/>
          </a:xfrm>
          <a:prstGeom prst="rect">
            <a:avLst>
              <a:gd name="adj" fmla="val 2857"/>
            </a:avLst>
          </a:prstGeom>
          <a:solidFill>
            <a:srgbClr val="13131E"/>
          </a:solidFill>
          <a:ln w="15240">
            <a:solidFill>
              <a:srgbClr val="2626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173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₹1,750+ Crore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by Indian citizens to cyber financial scams in 2024 (I4C Data)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4937760" cy="1600200"/>
          </a:xfrm>
          <a:prstGeom prst="rect">
            <a:avLst>
              <a:gd name="adj" fmla="val 2857"/>
            </a:avLst>
          </a:prstGeom>
          <a:solidFill>
            <a:srgbClr val="13131E"/>
          </a:solidFill>
          <a:ln w="15240">
            <a:solidFill>
              <a:srgbClr val="2626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1546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80%+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" y="370332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Smishing messages now use transliterated Hindi with leetspeak mutations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4709160"/>
            <a:ext cx="4937760" cy="1600200"/>
          </a:xfrm>
          <a:prstGeom prst="rect">
            <a:avLst>
              <a:gd name="adj" fmla="val 2857"/>
            </a:avLst>
          </a:prstGeom>
          <a:solidFill>
            <a:srgbClr val="13131E"/>
          </a:solidFill>
          <a:ln w="15240">
            <a:solidFill>
              <a:srgbClr val="2626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8920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0% Coverage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2960" y="544068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English spam filters completely miss Latin-script Indian languages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0" y="1234440"/>
            <a:ext cx="5973775" cy="5120640"/>
          </a:xfrm>
          <a:prstGeom prst="rect">
            <a:avLst>
              <a:gd name="adj" fmla="val 893"/>
            </a:avLst>
          </a:prstGeom>
          <a:solidFill>
            <a:srgbClr val="13131E"/>
          </a:solidFill>
          <a:ln w="15240">
            <a:solidFill>
              <a:srgbClr val="2626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97880" y="1417320"/>
            <a:ext cx="3368650" cy="310896"/>
          </a:xfrm>
          <a:prstGeom prst="rect">
            <a:avLst>
              <a:gd name="adj" fmla="val 23529"/>
            </a:avLst>
          </a:prstGeom>
          <a:solidFill>
            <a:srgbClr val="281E08"/>
          </a:solidFill>
          <a:ln w="15240">
            <a:solidFill>
              <a:srgbClr val="E6B8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453896"/>
            <a:ext cx="309433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2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📱 REALISTIC VERNACULAR SCENARIOS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897880" y="1874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YouTube Task / Part-Time Job Fraud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897880" y="216712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"Ghar baithe daily Rs 3000-5000 kamaye. Videos like karo aur screenshot bhejo WhatsApp par: wa.me/91..."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97880" y="262432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788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Vector: Exploits work-from-home allure. Bypasses filters because "ghar baithe" is not flagged as English spam.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897880" y="32918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Electricity Disconnection Urgent Cut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897880" y="358444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"Aapka bijli connection aaj raat 9 baje bandh ho jayega. Turant call karein aur 0TPP batayein."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404164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788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Vector: Uses extreme urgency and replaces "OTP" with leetspeak "0TPP".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97880" y="47091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Obfuscated SBI KYC Expiry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897880" y="500176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"Y0UR SB1 ACC0UNT WILL BLCK T0DAY. UPDATE K-Y-C IMMED1ATE: http://bit.ly/sbi-kyc"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545896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788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Vector: Spaced letters ("K-Y-C") and leetspeak ("BLCK", "SB1") defeat standard dictionary tokenizers.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64592"/>
            <a:ext cx="4264762" cy="310896"/>
          </a:xfrm>
          <a:prstGeom prst="rect">
            <a:avLst>
              <a:gd name="adj" fmla="val 23529"/>
            </a:avLst>
          </a:prstGeom>
          <a:solidFill>
            <a:srgbClr val="281E08"/>
          </a:solidFill>
          <a:ln w="15240">
            <a:solidFill>
              <a:srgbClr val="E6B8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508760" y="201168"/>
            <a:ext cx="39904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2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⚔️ BENCHMARK COMPARISON • THE "AHA!" MOMENT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371600" y="512064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Traditional Filters Fail vs. How Kavach AI Wins</a:t>
            </a:r>
            <a:endParaRPr lang="en-US" sz="1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3017520"/>
        </p:xfrm>
        <a:graphic>
          <a:graphicData uri="http://schemas.openxmlformats.org/drawingml/2006/table">
            <a:tbl>
              <a:tblPr/>
              <a:tblGrid>
                <a:gridCol w="2773604"/>
                <a:gridCol w="2773604"/>
                <a:gridCol w="2773604"/>
                <a:gridCol w="2773604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</a:rPr>
                        <a:t>Threat Vector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</a:rPr>
                        <a:t>Telecom DND Gateways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</a:rPr>
                        <a:t>English NLP Models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CE58A"/>
                          </a:solidFill>
                        </a:rPr>
                        <a:t>🛡️ Kavach AI (Our Engine)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</a:rPr>
                        <a:t>Transliterated Hinglish ("bijli cut")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43F5E"/>
                          </a:solidFill>
                        </a:rPr>
                        <a:t>❌ Blind (0% detection)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43F5E"/>
                          </a:solidFill>
                        </a:rPr>
                        <a:t>❌ Semantic failure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✅ Native Vernacular Lexicon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</a:rPr>
                        <a:t>Adversarial Leetspeak ("BLCK", "0TPP")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43F5E"/>
                          </a:solidFill>
                        </a:rPr>
                        <a:t>❌ Bypassed completely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43F5E"/>
                          </a:solidFill>
                        </a:rPr>
                        <a:t>❌ Tokenizer splits word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✅ 3-Step Levenshtein (&lt;15ms)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</a:rPr>
                        <a:t>Part-Time Task Scams ("ghar baithe")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43F5E"/>
                          </a:solidFill>
                        </a:rPr>
                        <a:t>❌ Treated as promo SMS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43F5E"/>
                          </a:solidFill>
                        </a:rPr>
                        <a:t>❌ Low risk classification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✅ Deterministic Signatures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</a:rPr>
                        <a:t>Detection Latency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788A9E"/>
                          </a:solidFill>
                        </a:rPr>
                        <a:t>200ms - 500ms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59E0B"/>
                          </a:solidFill>
                        </a:rPr>
                        <a:t>1200ms - 3000ms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⚡ &lt;45ms Real-Time Speed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434840"/>
            <a:ext cx="11094415" cy="1920240"/>
          </a:xfrm>
          <a:prstGeom prst="rect">
            <a:avLst>
              <a:gd name="adj" fmla="val 2381"/>
            </a:avLst>
          </a:prstGeom>
          <a:solidFill>
            <a:srgbClr val="101626"/>
          </a:solidFill>
          <a:ln w="15240">
            <a:solidFill>
              <a:srgbClr val="243C5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4617720"/>
            <a:ext cx="4443984" cy="310896"/>
          </a:xfrm>
          <a:prstGeom prst="rect">
            <a:avLst>
              <a:gd name="adj" fmla="val 23529"/>
            </a:avLst>
          </a:prstGeom>
          <a:solidFill>
            <a:srgbClr val="281E08"/>
          </a:solidFill>
          <a:ln w="15240">
            <a:solidFill>
              <a:srgbClr val="E6B83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4654296"/>
            <a:ext cx="4169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2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💡 CONCRETE EVASION PROOF ("THE AHA! MOMENT")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22960" y="50292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Input: "Y0UR SB1 ACC0UNT WILL BLCK T0DAY. UPDATE K-Y-C IMMED1ATE: http://bit.ly/sbi-kyc"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Traditional Filter: PASS (0% keywords match English dictionary; "BLCK" and "SB1" are non-words).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Kavach AI: 100% HIGH RISK (Deobfuscated: "block", "sbi", "kyc" | Malicious shortener flagged in 35ms).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64592"/>
            <a:ext cx="4354373" cy="310896"/>
          </a:xfrm>
          <a:prstGeom prst="rect">
            <a:avLst>
              <a:gd name="adj" fmla="val 23529"/>
            </a:avLst>
          </a:prstGeom>
          <a:solidFill>
            <a:srgbClr val="281E08"/>
          </a:solidFill>
          <a:ln w="15240">
            <a:solidFill>
              <a:srgbClr val="E6B8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508760" y="201168"/>
            <a:ext cx="40800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2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🛡️ SOLUTION OVERVIEW • CORE DEFENSE PILLARS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371600" y="512064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Kavach AI: Dual-Engine Defense Architecture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2606040" cy="2468880"/>
          </a:xfrm>
          <a:prstGeom prst="rect">
            <a:avLst>
              <a:gd name="adj" fmla="val 1852"/>
            </a:avLst>
          </a:prstGeom>
          <a:solidFill>
            <a:srgbClr val="13131E"/>
          </a:solidFill>
          <a:ln w="15240">
            <a:solidFill>
              <a:srgbClr val="2626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71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3990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3-Step Levenshtein Normalizer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A2B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Strips hyphens (K-Y-C -&gt; KYC), translates leetspeak (0-&gt;o, @-&gt;a), and computes edit distance in &lt;15ms.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234440"/>
            <a:ext cx="2606040" cy="2468880"/>
          </a:xfrm>
          <a:prstGeom prst="rect">
            <a:avLst>
              <a:gd name="adj" fmla="val 1852"/>
            </a:avLst>
          </a:prstGeom>
          <a:solidFill>
            <a:srgbClr val="13131E"/>
          </a:solidFill>
          <a:ln w="15240">
            <a:solidFill>
              <a:srgbClr val="2626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371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023360" y="13990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350+ Safe-Word Whitelist Shield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29000" y="201168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A2B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Protects natural words (chahte, job, ghar, aap, bhejo) from false-positive fuzzy distance distortion.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2606040" cy="2468880"/>
          </a:xfrm>
          <a:prstGeom prst="rect">
            <a:avLst>
              <a:gd name="adj" fmla="val 1852"/>
            </a:avLst>
          </a:prstGeom>
          <a:solidFill>
            <a:srgbClr val="13131E"/>
          </a:solidFill>
          <a:ln w="15240">
            <a:solidFill>
              <a:srgbClr val="2626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977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40050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Multi-Model Gemini AI Cascade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5800" y="461772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A2B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Fuses 40% Deterministic Rule Engine with 60% Gemini Flash AI across a 6-model failover pool for 0% downtime.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91840" y="3840480"/>
            <a:ext cx="2606040" cy="2468880"/>
          </a:xfrm>
          <a:prstGeom prst="rect">
            <a:avLst>
              <a:gd name="adj" fmla="val 1852"/>
            </a:avLst>
          </a:prstGeom>
          <a:solidFill>
            <a:srgbClr val="13131E"/>
          </a:solidFill>
          <a:ln w="15240">
            <a:solidFill>
              <a:srgbClr val="2626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3977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023360" y="40050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Turso Cloud Threat Intelligence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29000" y="461772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A2B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LibSQL database auditing, structured scam categorization, and live threat feed telemetry.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35040" y="1234440"/>
            <a:ext cx="5608015" cy="5120640"/>
          </a:xfrm>
          <a:prstGeom prst="rect">
            <a:avLst>
              <a:gd name="adj" fmla="val 893"/>
            </a:avLst>
          </a:prstGeom>
          <a:solidFill>
            <a:srgbClr val="13131E"/>
          </a:solidFill>
          <a:ln w="15240">
            <a:solidFill>
              <a:srgbClr val="26263A"/>
            </a:solidFill>
            <a:prstDash val="solid"/>
          </a:ln>
        </p:spPr>
      </p:sp>
      <p:pic>
        <p:nvPicPr>
          <p:cNvPr id="22" name="Image 0" descr="D:\hackathon_elicit_acm\assets\ingestion_termin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0" y="1417320"/>
            <a:ext cx="5239512" cy="292608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6217920" y="4480560"/>
            <a:ext cx="3279038" cy="310896"/>
          </a:xfrm>
          <a:prstGeom prst="rect">
            <a:avLst>
              <a:gd name="adj" fmla="val 23529"/>
            </a:avLst>
          </a:prstGeom>
          <a:solidFill>
            <a:srgbClr val="281E08"/>
          </a:solidFill>
          <a:ln w="15240">
            <a:solidFill>
              <a:srgbClr val="E6B83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55080" y="4517136"/>
            <a:ext cx="30047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2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✦ LIVE THREAT INGESTION TERMINAL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6217920" y="489204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presets for YouTube scams, e-Challans, SBI KYC, and Bijli cut.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Sub-pixel responsive input field supporting multi-dialect Indian text.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Dual-engine scoring trigger with real-time feedback.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64592"/>
            <a:ext cx="3906317" cy="310896"/>
          </a:xfrm>
          <a:prstGeom prst="rect">
            <a:avLst>
              <a:gd name="adj" fmla="val 23529"/>
            </a:avLst>
          </a:prstGeom>
          <a:solidFill>
            <a:srgbClr val="281E08"/>
          </a:solidFill>
          <a:ln w="15240">
            <a:solidFill>
              <a:srgbClr val="E6B8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508760" y="201168"/>
            <a:ext cx="363199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2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🏗️ SYSTEM ARCHITECTURE • DATA PIPELINE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371600" y="512064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Threat Processing Pipeline &amp; Stack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2148840" cy="1828800"/>
          </a:xfrm>
          <a:prstGeom prst="rect">
            <a:avLst>
              <a:gd name="adj" fmla="val 2500"/>
            </a:avLst>
          </a:prstGeom>
          <a:solidFill>
            <a:srgbClr val="13131E"/>
          </a:solidFill>
          <a:ln w="15240">
            <a:solidFill>
              <a:srgbClr val="2626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716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CE5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01. Ingestion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A2B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Strips hyphens &amp; leetspeak.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88920" y="1234440"/>
            <a:ext cx="2148840" cy="1828800"/>
          </a:xfrm>
          <a:prstGeom prst="rect">
            <a:avLst>
              <a:gd name="adj" fmla="val 2500"/>
            </a:avLst>
          </a:prstGeom>
          <a:solidFill>
            <a:srgbClr val="13131E"/>
          </a:solidFill>
          <a:ln w="15240">
            <a:solidFill>
              <a:srgbClr val="2626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13716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CE5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02. Levenshtein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26080" y="178308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A2B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Fuzzy threat match in &lt;15ms.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0" y="1234440"/>
            <a:ext cx="2148840" cy="1828800"/>
          </a:xfrm>
          <a:prstGeom prst="rect">
            <a:avLst>
              <a:gd name="adj" fmla="val 2500"/>
            </a:avLst>
          </a:prstGeom>
          <a:solidFill>
            <a:srgbClr val="13131E"/>
          </a:solidFill>
          <a:ln w="15240">
            <a:solidFill>
              <a:srgbClr val="2626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66360" y="13716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CE5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03. 40% Rules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66360" y="178308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A2B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regexes &amp; URL forensics.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269480" y="1234440"/>
            <a:ext cx="2148840" cy="1828800"/>
          </a:xfrm>
          <a:prstGeom prst="rect">
            <a:avLst>
              <a:gd name="adj" fmla="val 2500"/>
            </a:avLst>
          </a:prstGeom>
          <a:solidFill>
            <a:srgbClr val="13131E"/>
          </a:solidFill>
          <a:ln w="15240">
            <a:solidFill>
              <a:srgbClr val="2626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06640" y="13716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CE5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04. 60% Gemini AI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06640" y="178308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A2B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Multi-model semantic pool.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509760" y="1234440"/>
            <a:ext cx="2148840" cy="1828800"/>
          </a:xfrm>
          <a:prstGeom prst="rect">
            <a:avLst>
              <a:gd name="adj" fmla="val 2500"/>
            </a:avLst>
          </a:prstGeom>
          <a:solidFill>
            <a:srgbClr val="13131E"/>
          </a:solidFill>
          <a:ln w="15240">
            <a:solidFill>
              <a:srgbClr val="2626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46920" y="13716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CE5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05. Audit Log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646920" y="178308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A2B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Turso Cloud logging.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246120"/>
            <a:ext cx="5468112" cy="3108960"/>
          </a:xfrm>
          <a:prstGeom prst="rect">
            <a:avLst>
              <a:gd name="adj" fmla="val 1471"/>
            </a:avLst>
          </a:prstGeom>
          <a:solidFill>
            <a:srgbClr val="13131E"/>
          </a:solidFill>
          <a:ln w="15240">
            <a:solidFill>
              <a:srgbClr val="2626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3429000"/>
            <a:ext cx="3010205" cy="310896"/>
          </a:xfrm>
          <a:prstGeom prst="rect">
            <a:avLst>
              <a:gd name="adj" fmla="val 23529"/>
            </a:avLst>
          </a:prstGeom>
          <a:solidFill>
            <a:srgbClr val="102030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465576"/>
            <a:ext cx="27358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🧠 AI, NLP &amp; LINGUISTIC STACK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77240" y="3886200"/>
            <a:ext cx="50109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Google Gemini Flash (Multi-Model Pool: 3.5, 3.7, Latest)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Fast-Levenshtein Deobfuscation Engine (&lt;15ms)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202+ Indian Threat Lexicon (Hindi, Hinglish, Tamil, Telugu)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350+ Safe-Word Whitelist (0% false positives on safe chats)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3246120"/>
            <a:ext cx="5468112" cy="3108960"/>
          </a:xfrm>
          <a:prstGeom prst="rect">
            <a:avLst>
              <a:gd name="adj" fmla="val 1471"/>
            </a:avLst>
          </a:prstGeom>
          <a:solidFill>
            <a:srgbClr val="13131E"/>
          </a:solidFill>
          <a:ln w="15240">
            <a:solidFill>
              <a:srgbClr val="2626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3429000"/>
            <a:ext cx="2651760" cy="310896"/>
          </a:xfrm>
          <a:prstGeom prst="rect">
            <a:avLst>
              <a:gd name="adj" fmla="val 23529"/>
            </a:avLst>
          </a:prstGeom>
          <a:solidFill>
            <a:srgbClr val="0D2818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346557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BACKEND, CLOUD DB &amp; PWA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00800" y="3886200"/>
            <a:ext cx="50109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Node.js Serverless Microservices on Vercel Edge (&lt;45ms)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Turso Cloud Database (LibSQL Serverless SQLite in AWS Mumbai)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Progressive Web App (PWA) installable on Android &amp; iOS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Auto-Bumping Service Worker (sw.js) for instant offline cache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64592"/>
            <a:ext cx="4085539" cy="310896"/>
          </a:xfrm>
          <a:prstGeom prst="rect">
            <a:avLst>
              <a:gd name="adj" fmla="val 23529"/>
            </a:avLst>
          </a:prstGeom>
          <a:solidFill>
            <a:srgbClr val="281E08"/>
          </a:solidFill>
          <a:ln w="15240">
            <a:solidFill>
              <a:srgbClr val="E6B8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508760" y="201168"/>
            <a:ext cx="38112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2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🧪 EMPIRICAL VALIDATION • LIVE BENCHMARKS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371600" y="512064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Empirical Validation Across Real Indian Smishing Attacks</a:t>
            </a:r>
            <a:endParaRPr lang="en-US" sz="1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5120640" cy="27432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8FAFC"/>
                          </a:solidFill>
                        </a:rPr>
                        <a:t>Attack Vector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8FAFC"/>
                          </a:solidFill>
                        </a:rPr>
                        <a:t>Latency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8FAFC"/>
                          </a:solidFill>
                        </a:rPr>
                        <a:t>Risk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8FAFC"/>
                          </a:solidFill>
                        </a:rPr>
                        <a:t>Verdict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YouTube Task Scam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38ms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43F5E"/>
                          </a:solidFill>
                        </a:rPr>
                        <a:t>100%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43F5E"/>
                          </a:solidFill>
                        </a:rPr>
                        <a:t>🚨 HIGH RISK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Bijli Cut Threat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42ms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43F5E"/>
                          </a:solidFill>
                        </a:rPr>
                        <a:t>100%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43F5E"/>
                          </a:solidFill>
                        </a:rPr>
                        <a:t>🚨 HIGH RISK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SBI KYC Leetspeak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35ms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43F5E"/>
                          </a:solidFill>
                        </a:rPr>
                        <a:t>100%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43F5E"/>
                          </a:solidFill>
                        </a:rPr>
                        <a:t>🚨 HIGH RISK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Traffic e-Challan APK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44ms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43F5E"/>
                          </a:solidFill>
                        </a:rPr>
                        <a:t>100%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43F5E"/>
                          </a:solidFill>
                        </a:rPr>
                        <a:t>🚨 HIGH RISK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Benign Hindi Chat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28ms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✅ SAFE &amp; CLEAN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160520"/>
            <a:ext cx="5120640" cy="2194560"/>
          </a:xfrm>
          <a:prstGeom prst="rect">
            <a:avLst>
              <a:gd name="adj" fmla="val 2083"/>
            </a:avLst>
          </a:prstGeom>
          <a:solidFill>
            <a:srgbClr val="101626"/>
          </a:solidFill>
          <a:ln w="15240">
            <a:solidFill>
              <a:srgbClr val="243C5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4343400"/>
            <a:ext cx="3099816" cy="310896"/>
          </a:xfrm>
          <a:prstGeom prst="rect">
            <a:avLst>
              <a:gd name="adj" fmla="val 23529"/>
            </a:avLst>
          </a:prstGeom>
          <a:solidFill>
            <a:srgbClr val="281E08"/>
          </a:solidFill>
          <a:ln w="15240">
            <a:solidFill>
              <a:srgbClr val="E6B83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379976"/>
            <a:ext cx="2825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2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PRODUCTION DEPLOYMENT LINKS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77240" y="475488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Live Web App: https://kavach-ai-ten.vercel.app/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Open Source Code: https://github.com/bharath-0814/Kavach.ai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Cloud Database: Turso Cloud LibSQL (AWS Mumbai)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Multi-Model Pool: Gemini 3.5, 3.7 &amp; Flash-Latest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852160" y="1234440"/>
            <a:ext cx="5788152" cy="5120640"/>
          </a:xfrm>
          <a:prstGeom prst="rect">
            <a:avLst>
              <a:gd name="adj" fmla="val 893"/>
            </a:avLst>
          </a:prstGeom>
          <a:solidFill>
            <a:srgbClr val="13131E"/>
          </a:solidFill>
          <a:ln w="15240">
            <a:solidFill>
              <a:srgbClr val="26263A"/>
            </a:solidFill>
            <a:prstDash val="solid"/>
          </a:ln>
        </p:spPr>
      </p:sp>
      <p:pic>
        <p:nvPicPr>
          <p:cNvPr id="11" name="Image 0" descr="D:\hackathon_elicit_acm\assets\workbench_fe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1417320"/>
            <a:ext cx="5513832" cy="34747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035040" y="5029200"/>
            <a:ext cx="3727094" cy="310896"/>
          </a:xfrm>
          <a:prstGeom prst="rect">
            <a:avLst>
              <a:gd name="adj" fmla="val 23529"/>
            </a:avLst>
          </a:prstGeom>
          <a:solidFill>
            <a:srgbClr val="281E08"/>
          </a:solidFill>
          <a:ln w="15240">
            <a:solidFill>
              <a:srgbClr val="E6B83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172200" y="5065776"/>
            <a:ext cx="34527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2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✦ LIVE WORKBENCH &amp; CLOUD THREAT AUDIT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6035040" y="544068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Levenshtein distance matching + Turso Cloud audit trail with top-11 pagination.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64592"/>
            <a:ext cx="5160874" cy="310896"/>
          </a:xfrm>
          <a:prstGeom prst="rect">
            <a:avLst>
              <a:gd name="adj" fmla="val 23529"/>
            </a:avLst>
          </a:prstGeom>
          <a:solidFill>
            <a:srgbClr val="281E08"/>
          </a:solidFill>
          <a:ln w="15240">
            <a:solidFill>
              <a:srgbClr val="E6B8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508760" y="201168"/>
            <a:ext cx="48865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2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🚀 HACKATHON ROUND 2 COMMITMENT • FUTURE ADVANCEMENTS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371600" y="512064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On-Device RAG &amp; Privacy-Preserving Self-Learning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394960" cy="5120640"/>
          </a:xfrm>
          <a:prstGeom prst="rect">
            <a:avLst>
              <a:gd name="adj" fmla="val 893"/>
            </a:avLst>
          </a:prstGeom>
          <a:solidFill>
            <a:srgbClr val="13131E"/>
          </a:solidFill>
          <a:ln w="15240">
            <a:solidFill>
              <a:srgbClr val="2626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417320"/>
            <a:ext cx="3727094" cy="310896"/>
          </a:xfrm>
          <a:prstGeom prst="rect">
            <a:avLst>
              <a:gd name="adj" fmla="val 23529"/>
            </a:avLst>
          </a:prstGeom>
          <a:solidFill>
            <a:srgbClr val="102030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453896"/>
            <a:ext cx="34527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🧠 EDGE-NATIVE LOCAL RAG (SQLITE-VSS)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48463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On-Device Vector Embeddings: Ultra-compact local vector DB (SQLite-VSS) on mobile stores known scam vectors and malicious APK signatures.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Sub-10ms Cosine Similarity: Incoming SMS performs localized vector lookup completely offline.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Contextual Threat Reasoning: On-device quantized SLM explains exact scam modus operandi without cloud queries.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100% Offline Capability: Operates in flight mode or rural areas with zero internet connectivity.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45352" y="1234440"/>
            <a:ext cx="5394960" cy="5120640"/>
          </a:xfrm>
          <a:prstGeom prst="rect">
            <a:avLst>
              <a:gd name="adj" fmla="val 893"/>
            </a:avLst>
          </a:prstGeom>
          <a:solidFill>
            <a:srgbClr val="13131E"/>
          </a:solidFill>
          <a:ln w="15240">
            <a:solidFill>
              <a:srgbClr val="2626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417320"/>
            <a:ext cx="3547872" cy="310896"/>
          </a:xfrm>
          <a:prstGeom prst="rect">
            <a:avLst>
              <a:gd name="adj" fmla="val 23529"/>
            </a:avLst>
          </a:prstGeom>
          <a:solidFill>
            <a:srgbClr val="0D2818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1453896"/>
            <a:ext cx="3273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🔒 PRIVACY-FIRST FEDERATED LEARNING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92240" y="1920240"/>
            <a:ext cx="48463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100% DPDP Act 2023 Compliance: Zero personal SMS messages leave the phone's Secure Enclave.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Localized Dialect Adaptation: Continuously adapts to user-verified regional slang without uploading messages.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Federated Weight Aggregation: Only encrypted mathematical gradient delta updates are synced across India to collectively improve Indic vocabulary.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Hardware Secure Enclave: Executed strictly inside Apple Neural Engine / Android NNAPI.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64592"/>
            <a:ext cx="4623206" cy="310896"/>
          </a:xfrm>
          <a:prstGeom prst="rect">
            <a:avLst>
              <a:gd name="adj" fmla="val 23529"/>
            </a:avLst>
          </a:prstGeom>
          <a:solidFill>
            <a:srgbClr val="281E08"/>
          </a:solidFill>
          <a:ln w="15240">
            <a:solidFill>
              <a:srgbClr val="E6B8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508760" y="201168"/>
            <a:ext cx="43488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2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IMPACT &amp; SCALING ROADMAP • COMMERCIALIZATION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371600" y="512064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Transformational Real-World Use Cases &amp; National Scale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468112" cy="1920240"/>
          </a:xfrm>
          <a:prstGeom prst="rect">
            <a:avLst>
              <a:gd name="adj" fmla="val 2381"/>
            </a:avLst>
          </a:prstGeom>
          <a:solidFill>
            <a:srgbClr val="13131E"/>
          </a:solidFill>
          <a:ln w="15240">
            <a:solidFill>
              <a:srgbClr val="2626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17320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👨‍👩‍👧 B2C: Senior Citizen Voice Shield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50109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 with automated SMS quarantine &amp; regional voice alerts ("Yeh message dhokhadhadi hai") in Hindi, Tamil, Telugu for non-English literate elders.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172200" y="1234440"/>
            <a:ext cx="5468112" cy="1920240"/>
          </a:xfrm>
          <a:prstGeom prst="rect">
            <a:avLst>
              <a:gd name="adj" fmla="val 2381"/>
            </a:avLst>
          </a:prstGeom>
          <a:solidFill>
            <a:srgbClr val="13131E"/>
          </a:solidFill>
          <a:ln w="15240">
            <a:solidFill>
              <a:srgbClr val="2626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417320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🏦 B2B: Fintech &amp; Banking SDK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0" y="1783080"/>
            <a:ext cx="50109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Embeddable SDK for UPI apps (PhonePe, Paytm, Google Pay, SBI YONO) to intercept fake OTP prompts and credential theft before payment execution.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5468112" cy="1920240"/>
          </a:xfrm>
          <a:prstGeom prst="rect">
            <a:avLst>
              <a:gd name="adj" fmla="val 2381"/>
            </a:avLst>
          </a:prstGeom>
          <a:solidFill>
            <a:srgbClr val="13131E"/>
          </a:solidFill>
          <a:ln w="15240">
            <a:solidFill>
              <a:srgbClr val="2626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474720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84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🏛️ B2G: Telecom Gateway Firewall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7240" y="3840480"/>
            <a:ext cx="50109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at SMSC gateways (Airtel, Jio, Vi, TRAI DND) to perform deep-packet inspection and block smishing SMS in &lt;10ms before transmission.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72200" y="3291840"/>
            <a:ext cx="5468112" cy="1920240"/>
          </a:xfrm>
          <a:prstGeom prst="rect">
            <a:avLst>
              <a:gd name="adj" fmla="val 2381"/>
            </a:avLst>
          </a:prstGeom>
          <a:solidFill>
            <a:srgbClr val="13131E"/>
          </a:solidFill>
          <a:ln w="15240">
            <a:solidFill>
              <a:srgbClr val="2626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3474720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🚔 National Cyber Intelligence Bridge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0" y="3840480"/>
            <a:ext cx="50109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telemetry feed of scam phone numbers, fake APK URLs, and UPI IDs shared with I4C (1930 Portal) to shut down scam call centers.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5486400"/>
            <a:ext cx="11094415" cy="822960"/>
          </a:xfrm>
          <a:prstGeom prst="rect">
            <a:avLst>
              <a:gd name="adj" fmla="val 5556"/>
            </a:avLst>
          </a:prstGeom>
          <a:solidFill>
            <a:srgbClr val="101626"/>
          </a:solidFill>
          <a:ln w="15240">
            <a:solidFill>
              <a:srgbClr val="243C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6235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CE5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🎯 Quantified National Impact: 90%+ Reduction in vernacular smishing financial losses • Sub-45ms Zero Latency Overhead on legitimate banking OTPs • 100% Privacy Compliance under Indian DPDP Act 2023.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2026-08-22T01:21:16Z</dcterms:created>
  <dcterms:modified xsi:type="dcterms:W3CDTF">2026-08-22T01:21:16Z</dcterms:modified>
</cp:coreProperties>
</file>